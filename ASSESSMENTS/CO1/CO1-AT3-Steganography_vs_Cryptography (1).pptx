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78" r:id="rId11"/>
    <p:sldId id="268" r:id="rId12"/>
    <p:sldId id="269" r:id="rId13"/>
    <p:sldId id="271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47472"/>
            <a:ext cx="749808" cy="411480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01/20</a:t>
            </a:r>
          </a:p>
        </p:txBody>
      </p:sp>
      <p:pic>
        <p:nvPicPr>
          <p:cNvPr id="8" name="Picture 7" descr="til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4983"/>
            <a:ext cx="12191695" cy="671301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48432" y="5742432"/>
            <a:ext cx="3032268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Name:  T S Sai Lahari</a:t>
            </a:r>
          </a:p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Reg no:192325137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1F1FA971-8111-9BE9-90FA-52D053D81149}"/>
              </a:ext>
            </a:extLst>
          </p:cNvPr>
          <p:cNvSpPr/>
          <p:nvPr/>
        </p:nvSpPr>
        <p:spPr>
          <a:xfrm>
            <a:off x="2684206" y="4837837"/>
            <a:ext cx="6607278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CSA5111-CRYPTOGRAPHY AND NETWORK SECURITY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3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3060"/>
            <a:ext cx="98755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dirty="0"/>
              <a:t>What Is Steganography?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Steganography means hiding information inside another file.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carrier can be an image, audio clip, video, or document.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hidden content may be text, a file, or a secret key.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To an observer, the carrier should look ordinary.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main goal is to hide that communication is happening.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Methods include pixel changes and metadata-based hiding.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Good methods make changes difficult to notice.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Capacity and robustness depend on the carrier and method.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It is useful when secrecy of communication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Concealment works best when it looks ordinary.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472392"/>
            <a:ext cx="98755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dirty="0"/>
              <a:t>What Is Cryptography?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963" y="1378778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Cryptography protects information by transforming it.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Readable information is called plaintext.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An encryption algorithm and key produce ciphertext.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Decryption turns ciphertext back into readable information.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Modern systems rely on carefully designed algorithms.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Secret keys must be protected and managed safely.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Encryption can protect data in storage and in transit.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Other cryptographic tools support integrity and authentication.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main goal is to keep content unreadable to outsiders.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Strong keys matter as much as strong algorithms.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3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13965" y="619337"/>
            <a:ext cx="340029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IN" dirty="0"/>
              <a:t>THE BIG DIFFERENCE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628" y="1444752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Steganography asks: can anyone tell a message is present?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Cryptography asks: can anyone understand the message?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Steganography embeds data inside an innocent-looking carrier.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Cryptography transforms data into an encoded form.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A hidden image may look normal but contain extra data.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Encrypted text may look obviously scrambled.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Steganography can attract less attention when successful.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Cryptography can protect large amounts of data efficiently.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methods solve related but different security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Different goals call for different defenses.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9230" y="521208"/>
            <a:ext cx="506516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IN" dirty="0"/>
              <a:t>HOW STEGANOGRAPHY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7124" y="1399032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First, choose a suitable cover file, such as a photo.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Prepare the secret message or file to be hidden.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Select a hiding method and, if needed, a secret key.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Embed the data into selected parts of the cover.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Save the result as a </a:t>
            </a:r>
            <a:r>
              <a:rPr dirty="0" err="1"/>
              <a:t>stego</a:t>
            </a:r>
            <a:r>
              <a:rPr dirty="0"/>
              <a:t>-object.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Share the </a:t>
            </a:r>
            <a:r>
              <a:rPr dirty="0" err="1"/>
              <a:t>stego</a:t>
            </a:r>
            <a:r>
              <a:rPr dirty="0"/>
              <a:t>-object through an appropriate channel.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receiver applies the matching extraction method.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Lossy compression or editing may damage hidden content.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Always test the output and protect the extraction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 cover file carries a hidden payload.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3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558" y="568706"/>
            <a:ext cx="482786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IN" dirty="0"/>
              <a:t>HOW CRYPTOGRAPHY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8131" y="1399032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Start with plaintext, such as a message or document.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Choose a trusted encryption algorithm.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Use a key to encrypt the plaintext.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output is ciphertext that should be unreadable.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Send or store the ciphertext securely.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intended receiver obtains the correct decryption key.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Decryption restores the original plaintext.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Key exchange and key storage are crucial security steps.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Never invent your own encryption algorithm for real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Plaintext becomes ciphertext with a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21208"/>
            <a:ext cx="491461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IN" dirty="0"/>
              <a:t>STEGANOGRAPHY IN REAL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460" y="1398442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A photograph can carry a small hidden message.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Audio files can conceal information in selected sound samples.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Video frames may carry hidden data across many images.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Digital watermarking can identify ownership of media.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Some systems embed tracking data in documents.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Researchers use steganography to study covert channels.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Legitimate uses include privacy, verification, and media protection.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Misuse can include hiding malicious instructions or stolen data.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Context and authorization matter when using these techniques.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Media can carry data beyond what meets the eye.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3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1075" y="511966"/>
            <a:ext cx="467730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IN" dirty="0"/>
              <a:t>CRYPTOGRAPHY IN REAL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7124" y="1415838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Secure messaging apps use encryption to protect conversations.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Online banking relies on cryptographic protocols.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HTTPS helps protect data exchanged with websites.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Encrypted backups help protect stored files.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Virtual private networks use cryptographic protections.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Digital signatures help verify who signed a document.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Password managers encrypt sensitive vault contents.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Organizations use encryption to reduce data exposure risks.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Security depends on correct configuration and key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Encryption protects data even when it is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70064" y="601387"/>
            <a:ext cx="746255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1C3E"/>
                </a:solidFill>
                <a:latin typeface="Aptos Display"/>
              </a:defRPr>
            </a:pPr>
            <a:r>
              <a:rPr lang="en-IN" sz="2700" dirty="0"/>
              <a:t>STEGANOGRAPHY: ADVANTAGES &amp;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6848" y="1298448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Conceals the message — but may be detected.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54A93272-DF6B-CC54-EF13-86AC08EB7EDE}"/>
              </a:ext>
            </a:extLst>
          </p:cNvPr>
          <p:cNvSpPr/>
          <p:nvPr/>
        </p:nvSpPr>
        <p:spPr>
          <a:xfrm>
            <a:off x="1010167" y="14904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0BFA4-1623-FC26-20EC-85AB61D8B94F}"/>
              </a:ext>
            </a:extLst>
          </p:cNvPr>
          <p:cNvSpPr txBox="1"/>
          <p:nvPr/>
        </p:nvSpPr>
        <p:spPr>
          <a:xfrm>
            <a:off x="1377893" y="1611197"/>
            <a:ext cx="3434899" cy="373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700"/>
              </a:spcAft>
              <a:defRPr sz="1420" b="1">
                <a:solidFill>
                  <a:srgbClr val="0097A7"/>
                </a:solidFill>
                <a:latin typeface="Aptos"/>
              </a:defRPr>
            </a:pPr>
            <a:r>
              <a:rPr lang="en-US" sz="1600" dirty="0"/>
              <a:t>ADVANTAGES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Hides the existence of a message inside an ordinary-looking file.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Supports images, audio, video, and document carriers.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Can be useful for watermarking and media ownership.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Can add concealment when used together with encryption.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8804E9-8262-7717-EC94-D84A37E9A74D}"/>
              </a:ext>
            </a:extLst>
          </p:cNvPr>
          <p:cNvSpPr txBox="1"/>
          <p:nvPr/>
        </p:nvSpPr>
        <p:spPr>
          <a:xfrm>
            <a:off x="6943541" y="1559032"/>
            <a:ext cx="3434899" cy="3739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700"/>
              </a:spcAft>
              <a:defRPr sz="1420" b="1">
                <a:solidFill>
                  <a:srgbClr val="0097A7"/>
                </a:solidFill>
                <a:latin typeface="Aptos"/>
              </a:defRPr>
            </a:pPr>
            <a:r>
              <a:rPr lang="en-US" sz="1600" dirty="0"/>
              <a:t>LIMITATIONS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Hidden capacity is often limited by the carrier.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Compression, resizing, or editing may destroy hidden data.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Detection tools can reveal suspicious patterns.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It does not automatically encrypt the hidden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C0545-DC2C-1BE2-399B-79A75CF4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3C4E83-4CB4-840D-3EDB-0B8E88F18963}"/>
              </a:ext>
            </a:extLst>
          </p:cNvPr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C1B38-D574-BAD6-FC8B-BBF9E5780A5C}"/>
              </a:ext>
            </a:extLst>
          </p:cNvPr>
          <p:cNvSpPr txBox="1"/>
          <p:nvPr/>
        </p:nvSpPr>
        <p:spPr>
          <a:xfrm>
            <a:off x="2233398" y="598305"/>
            <a:ext cx="722524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1C3E"/>
                </a:solidFill>
                <a:latin typeface="Aptos Display"/>
              </a:defRPr>
            </a:pPr>
            <a:r>
              <a:rPr lang="en-IN" sz="2700" dirty="0"/>
              <a:t>CRYPTOGRAPHY: ADVANTAGES &amp; LIMITATIONS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C8D502-C97D-964D-6970-EE650E596C98}"/>
              </a:ext>
            </a:extLst>
          </p:cNvPr>
          <p:cNvSpPr/>
          <p:nvPr/>
        </p:nvSpPr>
        <p:spPr>
          <a:xfrm>
            <a:off x="6526848" y="1456015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4788BF-FCFB-494F-0D56-C0CD89607F8F}"/>
              </a:ext>
            </a:extLst>
          </p:cNvPr>
          <p:cNvSpPr/>
          <p:nvPr/>
        </p:nvSpPr>
        <p:spPr>
          <a:xfrm>
            <a:off x="7360920" y="5650992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Protects meaning — but depends on secure keys.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5B427-7CCC-7F83-CF17-4023F119635F}"/>
              </a:ext>
            </a:extLst>
          </p:cNvPr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1F21277D-C0A9-28AC-8464-1C44B76B4736}"/>
              </a:ext>
            </a:extLst>
          </p:cNvPr>
          <p:cNvSpPr/>
          <p:nvPr/>
        </p:nvSpPr>
        <p:spPr>
          <a:xfrm>
            <a:off x="1010167" y="14904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4EA03A-5F70-2BD1-7808-6FD60F828CCD}"/>
              </a:ext>
            </a:extLst>
          </p:cNvPr>
          <p:cNvSpPr txBox="1"/>
          <p:nvPr/>
        </p:nvSpPr>
        <p:spPr>
          <a:xfrm>
            <a:off x="1464417" y="1682143"/>
            <a:ext cx="3434899" cy="361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  <a:defRPr sz="1420" b="1">
                <a:solidFill>
                  <a:srgbClr val="B83EA0"/>
                </a:solidFill>
                <a:latin typeface="Aptos"/>
              </a:defRPr>
            </a:pPr>
            <a:r>
              <a:rPr lang="en-US" sz="1600" dirty="0"/>
              <a:t>ADVANTAGES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/>
              <a:t>• </a:t>
            </a:r>
            <a:r>
              <a:rPr lang="en-US" sz="1600" dirty="0">
                <a:solidFill>
                  <a:srgbClr val="1C2A48"/>
                </a:solidFill>
                <a:latin typeface="Aptos"/>
              </a:rPr>
              <a:t>Protects the meaning of data from unauthorized readers.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>
                <a:solidFill>
                  <a:srgbClr val="1C2A48"/>
                </a:solidFill>
                <a:latin typeface="Aptos"/>
              </a:rPr>
              <a:t>• Strong algorithms can protect large files and communications.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>
                <a:solidFill>
                  <a:srgbClr val="1C2A48"/>
                </a:solidFill>
                <a:latin typeface="Aptos"/>
              </a:rPr>
              <a:t>• Supports secure banking, messaging, backups, and web traffic.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>
                <a:solidFill>
                  <a:srgbClr val="1C2A48"/>
                </a:solidFill>
                <a:latin typeface="Aptos"/>
              </a:rPr>
              <a:t>• Digital signatures can help verify authenticity and integrity.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1722D6-1B5B-0939-8738-C72AE912B581}"/>
              </a:ext>
            </a:extLst>
          </p:cNvPr>
          <p:cNvSpPr txBox="1"/>
          <p:nvPr/>
        </p:nvSpPr>
        <p:spPr>
          <a:xfrm>
            <a:off x="6938336" y="1662421"/>
            <a:ext cx="3434899" cy="361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700"/>
              </a:spcAft>
              <a:defRPr sz="1420" b="1">
                <a:solidFill>
                  <a:srgbClr val="B83EA0"/>
                </a:solidFill>
                <a:latin typeface="Aptos"/>
              </a:defRPr>
            </a:pPr>
            <a:r>
              <a:rPr lang="en-US" sz="1600" dirty="0"/>
              <a:t>LIMITATIONS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>
                <a:solidFill>
                  <a:srgbClr val="1C2A48"/>
                </a:solidFill>
                <a:latin typeface="Aptos"/>
              </a:rPr>
              <a:t>• Weak or stolen keys can undermine strong encryption.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>
                <a:solidFill>
                  <a:srgbClr val="1C2A48"/>
                </a:solidFill>
                <a:latin typeface="Aptos"/>
              </a:rPr>
              <a:t>• Lost keys may make protected data unrecoverable.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>
                <a:solidFill>
                  <a:srgbClr val="1C2A48"/>
                </a:solidFill>
                <a:latin typeface="Aptos"/>
              </a:rPr>
              <a:t>• Encryption does not prevent every malware or endpoint attack.</a:t>
            </a:r>
          </a:p>
          <a:p>
            <a:pPr>
              <a:lnSpc>
                <a:spcPct val="150000"/>
              </a:lnSpc>
              <a:spcAft>
                <a:spcPts val="700"/>
              </a:spcAft>
              <a:defRPr sz="1420" b="0">
                <a:solidFill>
                  <a:srgbClr val="1C2A48"/>
                </a:solidFill>
                <a:latin typeface="Aptos"/>
              </a:defRPr>
            </a:pPr>
            <a:r>
              <a:rPr lang="en-US" sz="1600" dirty="0">
                <a:solidFill>
                  <a:srgbClr val="1C2A48"/>
                </a:solidFill>
                <a:latin typeface="Aptos"/>
              </a:rPr>
              <a:t>• It hides content, but not necessarily the fact that data exists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313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7049" y="523973"/>
            <a:ext cx="508164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US" dirty="0"/>
              <a:t>WHEN SHOULD YOU USE EACH?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6948" y="1271016"/>
            <a:ext cx="6771131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Use steganography when hiding the presence of a message matters.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Use cryptography when protecting message content is the priority.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Use encryption for sensitive files, backups, and online traffic.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Consider steganography for authorized watermarking or covert research.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Use cryptography when data must remain confidential at scale.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Think about the likely attacker and detection capabilities.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Consider legal, ethical, and organizational requirements.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Check whether the method survives normal file processing.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Choose based on the security goal, not novelty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Match the method to the real-world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3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60604"/>
            <a:ext cx="644862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01C3E"/>
                </a:solidFill>
                <a:latin typeface="Aptos Display"/>
              </a:defRPr>
            </a:pPr>
            <a:r>
              <a:rPr lang="en-IN" sz="2700" dirty="0"/>
              <a:t>COMBINING BOTH: DOUBLE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8130" y="1406596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First encrypt the message using a trusted algorithm.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Then embed the ciphertext inside a suitable cover file.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carrier may look ordinary to a casual observer.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If the hidden data is found, encryption still protects its meaning.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receiver extracts the ciphertext from the carrier.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receiver then decrypts it using the correct key.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This adds concealment and confidentiality as separate layers.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process also adds complexity and possible failure points.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Use established tools and test the full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Two layers can strengthen a security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3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5037" y="515892"/>
            <a:ext cx="463505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IN" dirty="0"/>
              <a:t>A BIGGER SECURITY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" y="1444752"/>
            <a:ext cx="6492239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Neither technique solves every security problem.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Confidentiality keeps information private.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Integrity helps ensure data has not been improperly changed.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Authentication helps confirm identities or message origins.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Availability helps keep systems and data accessible.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Steganography mainly focuses on concealment.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Cryptography can support confidentiality, integrity, and authentication.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Backups, access controls, updates, and training still matter.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Think in layers: people, process, and technology.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Think in layers, not in single solutions.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3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80628" y="521208"/>
            <a:ext cx="315541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IN" dirty="0"/>
              <a:t>A SIMPLE ANALOGY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6126480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Imagine sending a note to a friend.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Steganography is like hiding the note inside a postcard picture.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postcard looks ordinary to people who see it.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Cryptography is like writing the note in a secret code.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People may see the coded note but cannot read its meaning.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Combining both is like coding the note and hiding it in the picture.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postcard hides the note's presence.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The code protects the note's meaning.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This analogy captures the central difference clearly.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 postcard can hide; a code can protect.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47440" y="573075"/>
            <a:ext cx="230627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lang="en-IN" dirty="0"/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" y="1444752"/>
            <a:ext cx="6473951" cy="493019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Steganography and cryptography protect digital information differently.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One conceals communication; the other transforms its content.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Each has distinct strengths, limitations, and use cases.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Real-world systems often need more than one defense.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Encryption should use reputable, modern algorithms.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Steganography should be tested against realistic detection methods.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Protect keys, devices, accounts, and communication channels.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Use security tools legally, ethically, and with authorization.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520">
                <a:solidFill>
                  <a:srgbClr val="1C2A48"/>
                </a:solidFill>
                <a:latin typeface="Aptos"/>
              </a:defRPr>
            </a:pPr>
            <a:r>
              <a:rPr dirty="0"/>
              <a:t>Choose the method that matches your security objective.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99032"/>
            <a:ext cx="4069080" cy="3794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Choose the tool that fits your objective.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B83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1C3E"/>
                </a:solidFill>
                <a:latin typeface="Aptos Display"/>
              </a:defRPr>
            </a:pPr>
            <a:r>
              <a:rPr dirty="0"/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61872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60920" y="1261872"/>
            <a:ext cx="4343400" cy="4069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le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12191695" cy="679865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5504688"/>
            <a:ext cx="4343400" cy="832104"/>
          </a:xfrm>
          <a:prstGeom prst="roundRect">
            <a:avLst/>
          </a:prstGeom>
          <a:solidFill>
            <a:srgbClr val="101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Stay curious. Stay secure.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2637D"/>
                </a:solidFill>
                <a:latin typeface="Aptos"/>
              </a:defRPr>
            </a:pPr>
            <a:r>
              <a:t>STEGANOGRAPHY  •  CRYPTOGRAPHY  •  DIGITAL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1465</Words>
  <Application>Microsoft Office PowerPoint</Application>
  <PresentationFormat>Widescreen</PresentationFormat>
  <Paragraphs>178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Lahari Sai</cp:lastModifiedBy>
  <cp:revision>2</cp:revision>
  <dcterms:created xsi:type="dcterms:W3CDTF">2013-01-27T09:14:16Z</dcterms:created>
  <dcterms:modified xsi:type="dcterms:W3CDTF">2026-10-14T14:13:57Z</dcterms:modified>
  <cp:category/>
</cp:coreProperties>
</file>